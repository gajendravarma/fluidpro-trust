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6576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5440" y="0"/>
            <a:ext cx="36576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84080" y="0"/>
            <a:ext cx="36576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720" y="0"/>
            <a:ext cx="36576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81360" y="0"/>
            <a:ext cx="36576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0"/>
            <a:ext cx="36576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7772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109728" cy="438912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24ABE"/>
                </a:solidFill>
              </a:rPr>
              <a:t>FluidTrust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40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E73DF"/>
                </a:solidFill>
              </a:rPr>
              <a:t>IT Management Customer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43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F"/>
                </a:solidFill>
              </a:rPr>
              <a:t>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🖥  Remote Monitoring &amp; Management (Pulseway)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19272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🎫  IT Helpdesk &amp; Ticketing (ManageEngine)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66744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📱  Mobile Device Management (MDM)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14215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☁  Cloud Backup Management (Datto)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757D"/>
                </a:solidFill>
              </a:rPr>
              <a:t>Demo Presentation  |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FF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F"/>
                </a:solidFill>
              </a:rPr>
              <a:t>What we will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FFF"/>
                </a:solidFill>
              </a:rPr>
              <a:t>FluidTrust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FluidTrust IT Management Portal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669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502920" cy="89611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618488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49047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4ABE"/>
                </a:solidFill>
              </a:rPr>
              <a:t>Project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9280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Purpose, goals and key stakeholders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5669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417320"/>
            <a:ext cx="502920" cy="896112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618488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490472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4ABE"/>
                </a:solidFill>
              </a:rPr>
              <a:t>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89280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Technology stack and integration 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41448"/>
            <a:ext cx="5669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441448"/>
            <a:ext cx="502920" cy="89611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6426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51460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4ABE"/>
                </a:solidFill>
              </a:rPr>
              <a:t>Role-Based Access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9169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Admin, Technician and Customer roles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441448"/>
            <a:ext cx="5669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2441448"/>
            <a:ext cx="502920" cy="896112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26426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51460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4ABE"/>
                </a:solidFill>
              </a:rPr>
              <a:t>ManageEngine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9169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Helpdesk ticketing and reports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65576"/>
            <a:ext cx="5669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465576"/>
            <a:ext cx="502920" cy="89611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666744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35387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4ABE"/>
                </a:solidFill>
              </a:rPr>
              <a:t>Pulseway — RMM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394106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Device monitoring, online/offline status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465576"/>
            <a:ext cx="5669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465576"/>
            <a:ext cx="502920" cy="896112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3666744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5387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4ABE"/>
                </a:solidFill>
              </a:rPr>
              <a:t>Mobile Device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94106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MDM device inventory and reports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489704"/>
            <a:ext cx="5669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9704"/>
            <a:ext cx="502920" cy="89611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69087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56285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4ABE"/>
                </a:solidFill>
              </a:rPr>
              <a:t>Datto Backup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496519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Backup status and storage pool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489704"/>
            <a:ext cx="5669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4489704"/>
            <a:ext cx="502920" cy="896112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469087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4562856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4ABE"/>
                </a:solidFill>
              </a:rPr>
              <a:t>Reports Dashboard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496519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Multi-module company-wise reports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513832"/>
            <a:ext cx="5669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5513832"/>
            <a:ext cx="502920" cy="89611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8" y="571500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5586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4ABE"/>
                </a:solidFill>
              </a:rPr>
              <a:t>Key Features Summary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" y="598932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Security, sync, notifications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5513832"/>
            <a:ext cx="5669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09360" y="5513832"/>
            <a:ext cx="502920" cy="896112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571500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55869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4ABE"/>
                </a:solidFill>
              </a:rPr>
              <a:t>Live Demo &amp; Q&amp;A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3720" y="598932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57D"/>
                </a:solidFill>
              </a:rPr>
              <a:t>Walk-through and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F"/>
                </a:solidFill>
              </a:rPr>
              <a:t>Unified IT management platform for Wepsol and its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FFF"/>
                </a:solidFill>
              </a:rPr>
              <a:t>FluidTrust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FluidTrust IT Management Portal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303520" cy="4846320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73152" cy="484632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08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4ABE"/>
                </a:solidFill>
              </a:rPr>
              <a:t>📋  What Is FluidTrust Portal?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>
                <a:solidFill>
                  <a:srgbClr val="2D3A4A"/>
                </a:solidFill>
              </a:rPr>
              <a:t>A single web portal that gives Wepsol's managed service clients a real-time view of all their IT assets and support activity.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D3A4A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24ABE"/>
                </a:solidFill>
              </a:rPr>
              <a:t>Key Goals: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D3A4A"/>
                </a:solidFill>
              </a:rPr>
              <a:t>✔  Single pane of glass for all IT services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D3A4A"/>
                </a:solidFill>
              </a:rPr>
              <a:t>✔  Role-based access — customers see only their data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D3A4A"/>
                </a:solidFill>
              </a:rPr>
              <a:t>✔  Live sync with ManageEngine, Pulseway, MDM &amp; Datto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D3A4A"/>
                </a:solidFill>
              </a:rPr>
              <a:t>✔  Package-based module access control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D3A4A"/>
                </a:solidFill>
              </a:rPr>
              <a:t>✔  Professional reporting per company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D3A4A"/>
                </a:solidFill>
              </a:rPr>
              <a:t>✔  Automated background data sync with fault tolerance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5943600" cy="4846320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417320"/>
            <a:ext cx="73152" cy="48463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4ABE"/>
                </a:solidFill>
              </a:rPr>
              <a:t>📊  At a Glance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011680"/>
            <a:ext cx="5394960" cy="621792"/>
          </a:xfrm>
          <a:prstGeom prst="rect">
            <a:avLst/>
          </a:prstGeom>
          <a:solidFill>
            <a:srgbClr val="F4F6FB"/>
          </a:solidFill>
          <a:ln w="762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8A745"/>
                </a:solidFill>
              </a:rPr>
              <a:t>490+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76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Monitored Devices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724912"/>
            <a:ext cx="5394960" cy="621792"/>
          </a:xfrm>
          <a:prstGeom prst="rect">
            <a:avLst/>
          </a:prstGeom>
          <a:solidFill>
            <a:srgbClr val="F4F6FB"/>
          </a:solidFill>
          <a:ln w="762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81635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73DF"/>
                </a:solidFill>
              </a:rPr>
              <a:t>6,779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889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Tickets Synced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438144"/>
            <a:ext cx="5394960" cy="621792"/>
          </a:xfrm>
          <a:prstGeom prst="rect">
            <a:avLst/>
          </a:prstGeom>
          <a:solidFill>
            <a:srgbClr val="F4F6FB"/>
          </a:solidFill>
          <a:ln w="762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52958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D7E14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6027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Companies Managed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151376"/>
            <a:ext cx="5394960" cy="621792"/>
          </a:xfrm>
          <a:prstGeom prst="rect">
            <a:avLst/>
          </a:prstGeom>
          <a:solidFill>
            <a:srgbClr val="F4F6FB"/>
          </a:solidFill>
          <a:ln w="762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24281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0C997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315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Integrated Modules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864608"/>
            <a:ext cx="5394960" cy="621792"/>
          </a:xfrm>
          <a:prstGeom prst="rect">
            <a:avLst/>
          </a:prstGeom>
          <a:solidFill>
            <a:srgbClr val="F4F6FB"/>
          </a:solidFill>
          <a:ln w="762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95604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4ABE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User Roles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5577840"/>
            <a:ext cx="5394960" cy="621792"/>
          </a:xfrm>
          <a:prstGeom prst="rect">
            <a:avLst/>
          </a:prstGeom>
          <a:solidFill>
            <a:srgbClr val="F4F6FB"/>
          </a:solidFill>
          <a:ln w="762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66928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757D"/>
                </a:solidFill>
              </a:rPr>
              <a:t>30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742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Pulseway Sync Interval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F"/>
                </a:solidFill>
              </a:rPr>
              <a:t>Django-based portal with background sync and live API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FFF"/>
                </a:solidFill>
              </a:rPr>
              <a:t>FluidTrust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FluidTrust IT Management Portal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560320"/>
            <a:ext cx="3200400" cy="1463040"/>
          </a:xfrm>
          <a:prstGeom prst="rect">
            <a:avLst/>
          </a:prstGeom>
          <a:solidFill>
            <a:srgbClr val="224ABE"/>
          </a:solidFill>
          <a:ln w="190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🌐  FluidTrust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4FF"/>
                </a:solidFill>
              </a:rPr>
              <a:t>Django 4.2  |  SQLite  |  Bootstrap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E4FF"/>
                </a:solidFill>
              </a:rPr>
              <a:t>RBAC  |  Scheduler  |  REST APIs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2560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828800"/>
            <a:ext cx="91440" cy="109728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9019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73DF"/>
                </a:solidFill>
              </a:rPr>
              <a:t>ManageEngine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Helpdesk
Ticketing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2560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91440" cy="10972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1363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A745"/>
                </a:solidFill>
              </a:rPr>
              <a:t>Pulseway RMM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97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Device Detail
API v3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828800"/>
            <a:ext cx="2560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828800"/>
            <a:ext cx="91440" cy="109728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19019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MDM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2286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Device
Enrollment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840480"/>
            <a:ext cx="25603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3840480"/>
            <a:ext cx="91440" cy="10972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19" y="391363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545"/>
                </a:solidFill>
              </a:rPr>
              <a:t>Datto Backup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4297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BCDR / DTC
Storage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5577840"/>
            <a:ext cx="2011680" cy="685800"/>
          </a:xfrm>
          <a:prstGeom prst="rect">
            <a:avLst/>
          </a:prstGeom>
          <a:solidFill>
            <a:srgbClr val="224ABE"/>
          </a:solidFill>
          <a:ln w="1270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5623559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👨‍💼 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94360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F"/>
                </a:solidFill>
              </a:rPr>
              <a:t>Full system access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5577840"/>
            <a:ext cx="2011680" cy="685800"/>
          </a:xfrm>
          <a:prstGeom prst="rect">
            <a:avLst/>
          </a:prstGeom>
          <a:solidFill>
            <a:srgbClr val="4E73DF"/>
          </a:solidFill>
          <a:ln w="1270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59" y="5623559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🔧  Technician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59" y="594360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F"/>
                </a:solidFill>
              </a:rPr>
              <a:t>Manage all companies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5577840"/>
            <a:ext cx="2011680" cy="6858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5623559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🏢  Customer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94360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F"/>
                </a:solidFill>
              </a:rPr>
              <a:t>Own company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E73DF"/>
                </a:solidFill>
              </a:rPr>
              <a:t>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251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E73DF"/>
                </a:solidFill>
              </a:rPr>
              <a:t>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E73DF"/>
                </a:solidFill>
              </a:rPr>
              <a:t>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251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E73DF"/>
                </a:solidFill>
              </a:rPr>
              <a:t>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757D"/>
                </a:solidFill>
              </a:rPr>
              <a:t>Sync Threads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C757D"/>
                </a:solidFill>
              </a:rPr>
              <a:t>↑ Background Schedulers 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Role-Based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F"/>
                </a:solidFill>
              </a:rPr>
              <a:t>Three roles — each sees exactly what they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FFF"/>
                </a:solidFill>
              </a:rPr>
              <a:t>FluidTrust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FluidTrust IT Management Portal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3749039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3749039" cy="8229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👨‍💼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Administrator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Full portal access — all companies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35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Manage users, companies and packages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941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Assign module access (ManageEngine, Pulseway, MDM, Datto)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5254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View sync control panel and API diagnostics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109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Access all reports and export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7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Manage Pulseway devices, policies and automation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417320"/>
            <a:ext cx="3749039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417320"/>
            <a:ext cx="3749039" cy="82296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Technician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377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Access all assigned companies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035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View and manage tickets across companies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6941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Monitor device status in Pulseway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35254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View MDM device inventory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0109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Generate cross-company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66927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Cannot manage user accounts or packages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1417320"/>
            <a:ext cx="3749039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12480" y="1417320"/>
            <a:ext cx="3749039" cy="8229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59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59" y="2377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Sees ONLY their own company's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59" y="30358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Raise and track support tickets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369417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View their device monitoring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59" y="435254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Access reports for their packages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59" y="50109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Mobile device inventory (if MDM package)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59" y="566927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✦  No access to other companies'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400800"/>
            <a:ext cx="11612880" cy="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💡  Customers see report tabs only for modules included in their package (ManageEngine / Pulseway / MDM — per-company configuration)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ManageEngine — IT Helpdesk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F"/>
                </a:solidFill>
              </a:rPr>
              <a:t>Live ticket sync, reporting and ticket creation from the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FFF"/>
                </a:solidFill>
              </a:rPr>
              <a:t>FluidTrust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FluidTrust IT Management Portal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577840" cy="50292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0876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🎫  Ticket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Raise new tickets directly from the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5973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File attachment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6207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Auto-assign requester email from ManageEngine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64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View ticket status, priority, technician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17320"/>
            <a:ext cx="5577840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50876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🔄  Auto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574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Incremental sync every 5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5973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6,779+ tickets cached in local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6207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Daily reconciliation removes ghost tickets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6440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Smart sync: only fetches changes since last 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77639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977639"/>
            <a:ext cx="5577840" cy="5029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4069079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Daily / Weekly / Monthly ticket trends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005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Status breakdown (Open/Pending/Resolved/Closed)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2239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Priority distribution with charts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2472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Per-company filtering for customers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977639"/>
            <a:ext cx="5577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977639"/>
            <a:ext cx="5577840" cy="5029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069079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🏢  Company Filtering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177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Customers see only their own tickets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02005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Fuzzy company name matching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42239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Technician view shows all companies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82472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• Export to CSV for any date range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Pulseway — Remote Monitoring &amp;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F"/>
                </a:solidFill>
              </a:rPr>
              <a:t>Real-time device status, uptime and patch compliance across all companies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FFF"/>
                </a:solidFill>
              </a:rPr>
              <a:t>FluidTrust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FluidTrust IT Management Portal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2240280" cy="100584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8132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490+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4FF"/>
                </a:solidFill>
              </a:rPr>
              <a:t>Total Devices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5184" y="1417320"/>
            <a:ext cx="224028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6624" y="148132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20116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4FF"/>
                </a:solidFill>
              </a:rPr>
              <a:t>Online Now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6048" y="1417320"/>
            <a:ext cx="224028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148132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0116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4FF"/>
                </a:solidFill>
              </a:rPr>
              <a:t>Offline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1417320"/>
            <a:ext cx="2240280" cy="100584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148132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20116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4FF"/>
                </a:solidFill>
              </a:rPr>
              <a:t>Companies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37776" y="1417320"/>
            <a:ext cx="2240280" cy="10058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6" y="148132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6" y="20116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4FF"/>
                </a:solidFill>
              </a:rPr>
              <a:t>Sync Interval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06040"/>
            <a:ext cx="3749039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606040"/>
            <a:ext cx="64008" cy="1664208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2697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4ABE"/>
                </a:solidFill>
              </a:rPr>
              <a:t>🟢  Online/Offline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3081528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Per-device detail API — Uptime string ("Online 3d 5h") is the only reliable status indicator. Synced every 30 min.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2606040"/>
            <a:ext cx="3749039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2606040"/>
            <a:ext cx="64008" cy="1664208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1" y="2697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4ABE"/>
                </a:solidFill>
              </a:rPr>
              <a:t>🛡  Patch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1" y="3081528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Pending patch count per device. Dashboard shows devices needing updates. Filter by company.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606040"/>
            <a:ext cx="3749039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2606040"/>
            <a:ext cx="64008" cy="1664208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2697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4ABE"/>
                </a:solidFill>
              </a:rPr>
              <a:t>🔍  Device Inventory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3081528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Full device list: IP address, OS, site, organisation. Searchable and paginated per company.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434840"/>
            <a:ext cx="3749039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434840"/>
            <a:ext cx="64008" cy="1664208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45262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4ABE"/>
                </a:solidFill>
              </a:rPr>
              <a:t>⚡  Rate-Limit Handling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4910327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1.5s delay between API calls (~40 req/min). Preserves last-known status on 429 errors. 3-retry backoff.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59" y="4434840"/>
            <a:ext cx="3749039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51959" y="4434840"/>
            <a:ext cx="64008" cy="1664208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16551" y="45262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4ABE"/>
                </a:solidFill>
              </a:rPr>
              <a:t>📈  Sync Control Panel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6551" y="4910327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Admin panel shows last sync time per org. Manual trigger button. API diagnostic tool.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4434840"/>
            <a:ext cx="3749039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4434840"/>
            <a:ext cx="64008" cy="1664208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94192" y="45262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4ABE"/>
                </a:solidFill>
              </a:rPr>
              <a:t>🏢  Company Isolation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4910327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Customer login shows only their company's devices. Fuzzy name matching handles spelling variants.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Mobile Device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F"/>
                </a:solidFill>
              </a:rPr>
              <a:t>Full visibility of enrolled mobile devices per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FFF"/>
                </a:solidFill>
              </a:rPr>
              <a:t>FluidTrust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FluidTrust IT Management Portal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486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73152" cy="50292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4ABE"/>
                </a:solidFill>
              </a:rPr>
              <a:t>📱  MDM Dashboard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11680"/>
            <a:ext cx="5029200" cy="502920"/>
          </a:xfrm>
          <a:prstGeom prst="rect">
            <a:avLst/>
          </a:prstGeom>
          <a:solidFill>
            <a:srgbClr val="F4F6FB"/>
          </a:solidFill>
          <a:ln w="381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84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4ABE"/>
                </a:solidFill>
              </a:rPr>
              <a:t>Device 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0848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Full list: name, type (Android/iOS/Windows/Mac), model, OS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78608"/>
            <a:ext cx="5029200" cy="502920"/>
          </a:xfrm>
          <a:prstGeom prst="rect">
            <a:avLst/>
          </a:prstGeom>
          <a:solidFill>
            <a:srgbClr val="F4F6FB"/>
          </a:solidFill>
          <a:ln w="381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517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4ABE"/>
                </a:solidFill>
              </a:rPr>
              <a:t>Enrollment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6517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Active, Managed, Staged, Retired — with colour badges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145536"/>
            <a:ext cx="5029200" cy="502920"/>
          </a:xfrm>
          <a:prstGeom prst="rect">
            <a:avLst/>
          </a:prstGeom>
          <a:solidFill>
            <a:srgbClr val="F4F6FB"/>
          </a:solidFill>
          <a:ln w="381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186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4ABE"/>
                </a:solidFill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2186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Encryption status per device — Yes / No badges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12464"/>
            <a:ext cx="5029200" cy="502920"/>
          </a:xfrm>
          <a:prstGeom prst="rect">
            <a:avLst/>
          </a:prstGeom>
          <a:solidFill>
            <a:srgbClr val="F4F6FB"/>
          </a:solidFill>
          <a:ln w="381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856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4ABE"/>
                </a:solidFill>
              </a:rPr>
              <a:t>Battery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7856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Battery % shown, red highlight if below 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279392"/>
            <a:ext cx="5029200" cy="502920"/>
          </a:xfrm>
          <a:prstGeom prst="rect">
            <a:avLst/>
          </a:prstGeom>
          <a:solidFill>
            <a:srgbClr val="F4F6FB"/>
          </a:solidFill>
          <a:ln w="381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5254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4ABE"/>
                </a:solidFill>
              </a:rPr>
              <a:t>Last Contact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3525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When the device last checked in to MDM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46320"/>
            <a:ext cx="5029200" cy="502920"/>
          </a:xfrm>
          <a:prstGeom prst="rect">
            <a:avLst/>
          </a:prstGeom>
          <a:solidFill>
            <a:srgbClr val="F4F6FB"/>
          </a:solidFill>
          <a:ln w="381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1947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4ABE"/>
                </a:solidFill>
              </a:rPr>
              <a:t>Company 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919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Customer sees only their enrolled devices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13248"/>
            <a:ext cx="5029200" cy="502920"/>
          </a:xfrm>
          <a:prstGeom prst="rect">
            <a:avLst/>
          </a:prstGeom>
          <a:solidFill>
            <a:srgbClr val="F4F6FB"/>
          </a:solidFill>
          <a:ln w="381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486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4ABE"/>
                </a:solidFill>
              </a:rPr>
              <a:t>Pagination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486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Search + paginate large device lists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980176"/>
            <a:ext cx="5029200" cy="502920"/>
          </a:xfrm>
          <a:prstGeom prst="rect">
            <a:avLst/>
          </a:prstGeom>
          <a:solidFill>
            <a:srgbClr val="F4F6FB"/>
          </a:solidFill>
          <a:ln w="381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0533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4ABE"/>
                </a:solidFill>
              </a:rPr>
              <a:t>Reports Tab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60533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Device type donut, managed vs unmanaged, encryption chart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1417320"/>
            <a:ext cx="5760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1417320"/>
            <a:ext cx="73152" cy="502920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4ABE"/>
                </a:solidFill>
              </a:rPr>
              <a:t>📊  Device Type Breakdown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2148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Android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21488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8A745"/>
                </a:solidFill>
              </a:rPr>
              <a:t>45%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2185416"/>
            <a:ext cx="4389120" cy="23774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2185416"/>
            <a:ext cx="5029200" cy="237744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27157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iOS/iPhone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271576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E73DF"/>
                </a:solidFill>
              </a:rPr>
              <a:t>30%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2752344"/>
            <a:ext cx="4389120" cy="23774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2752344"/>
            <a:ext cx="3291840" cy="237744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2826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Windows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32826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0C997"/>
                </a:solidFill>
              </a:rPr>
              <a:t>20%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3319272"/>
            <a:ext cx="4389120" cy="23774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38160" y="3319272"/>
            <a:ext cx="2194560" cy="237744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38496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A4A"/>
                </a:solidFill>
              </a:rPr>
              <a:t>macOS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384962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D7E14"/>
                </a:solidFill>
              </a:rPr>
              <a:t>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3886200"/>
            <a:ext cx="4389120" cy="23774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38160" y="3886200"/>
            <a:ext cx="548640" cy="237744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55080" y="5074920"/>
            <a:ext cx="5303520" cy="1188720"/>
          </a:xfrm>
          <a:prstGeom prst="rect">
            <a:avLst/>
          </a:prstGeom>
          <a:solidFill>
            <a:srgbClr val="D6E4FF"/>
          </a:solidFill>
          <a:ln w="63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51389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4ABE"/>
                </a:solidFill>
              </a:rPr>
              <a:t>💡  Key Point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5440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Device types (iOS, Android, macOS, Windows) are normalised from raw MDM API values. Charts update automatically as new devices enrol.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Reports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F"/>
                </a:solidFill>
              </a:rPr>
              <a:t>Package-aware multi-module reporting — company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FFF"/>
                </a:solidFill>
              </a:rPr>
              <a:t>FluidTrust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FluidTrust IT Management Portal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11612880" cy="73152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Customers see report tabs only for the modules in their package. All data is filtered to their company. Tabs appear dynamically based on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38404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331720"/>
            <a:ext cx="3840480" cy="77724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423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ManageEngine
Ticket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Daily / Weekly / Monthly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216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Status pie: Open, Pending, Resolved, 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970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Priority bar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72583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Daily ticket trend (area chart)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48071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Full ticket table with search &amp; pagination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2355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Export to 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331720"/>
            <a:ext cx="38404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2331720"/>
            <a:ext cx="3840480" cy="7772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2423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Pulseway
Device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246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Total / Online / Offline summary 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7216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Online vs Offline donut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1970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OS distribution bar chart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672583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Patch compliance donut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48071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Device table: IP, OS, uptime, patches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62355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Search + 20/50/100 rows per page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331720"/>
            <a:ext cx="38404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2331720"/>
            <a:ext cx="3840480" cy="7772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423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MDM
Device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46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Total / Active / Inactive / Retired cards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7216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Device type donut (Android, iOS, Win, Mac)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1970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Managed vs Unmanaged donut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672583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Encryption status donut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5148071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Device table: model, OS, battery, user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62355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✓  Search + paginated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F"/>
                </a:solidFill>
              </a:rPr>
              <a:t>Built for reliability, security and real-time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FFF"/>
                </a:solidFill>
              </a:rPr>
              <a:t>FluidTrust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FluidTrust IT Management Portal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30352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64008" cy="1572768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361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4ABE"/>
                </a:solidFill>
              </a:rPr>
              <a:t>🔐 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9385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Django auth — session-based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2037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Role + package permission middleware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68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Password reset via secure token (24h expiry)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7340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Self-registration with email verification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54680"/>
            <a:ext cx="530352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154680"/>
            <a:ext cx="64008" cy="1572768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2278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4ABE"/>
                </a:solidFill>
              </a:rPr>
              <a:t>🔄  Background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6301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ManageEngine: incremental every 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895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Pulseway: full detail sync every 30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160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SQLite WAL mode + batch writes (no lock conflicts)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4256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Rate-limit resilience — preserves last known 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46320"/>
            <a:ext cx="530352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846320"/>
            <a:ext cx="64008" cy="1572768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9194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4ABE"/>
                </a:solidFill>
              </a:rPr>
              <a:t>📧  Email &amp;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3218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Microsoft Graph API (Wepsol Office 365)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55869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Professional HTML emails for registration &amp; reset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5852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Correct IP (192.168.5.150:8000) in all links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1173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Fallback plain-text for email clients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1463040"/>
            <a:ext cx="530352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1463040"/>
            <a:ext cx="64008" cy="1572768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1112" y="15361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73DF"/>
                </a:solidFill>
              </a:rPr>
              <a:t>🛠  Technology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7688" y="19385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Backend: Django 4.2 + Python 3.x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22037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DB: SQLite (WAL mode, 30s busy timeout)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7688" y="2468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Frontend: Bootstrap 5 + ApexCharts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7688" y="27340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APIs: REST (requests lib) + slumber (Pulseway)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3154680"/>
            <a:ext cx="530352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46520" y="3154680"/>
            <a:ext cx="64008" cy="1572768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11112" y="32278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73DF"/>
                </a:solidFill>
              </a:rPr>
              <a:t>🏗  Integrations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47688" y="36301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ManageEngine ServiceDesk Plus v3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7688" y="3895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Pulseway RMM API v3 (fluidpulse.wepsol.com)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47688" y="4160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Datto Partner API v1 (BCDR + DTC)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47688" y="44256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ManageEngine MDM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4846320"/>
            <a:ext cx="530352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46520" y="4846320"/>
            <a:ext cx="64008" cy="1572768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11112" y="49194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73DF"/>
                </a:solidFill>
              </a:rPr>
              <a:t>📋  Data Accuracy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47688" y="53218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Live API comparison on demand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47688" y="55869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429 rate-limit: preserve-last-status logic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7688" y="5852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Stale device cleanup (404 = decommissioned)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61173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• Batch DB writes prevent SQLite lock conflicts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Datto — Backup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FF"/>
                </a:solidFill>
              </a:rPr>
              <a:t>BCDR and Direct-to-Cloud storage monitoring via Datto Partner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64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AFFF"/>
                </a:solidFill>
              </a:rPr>
              <a:t>FluidTrust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19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FluidTrust IT Management Portal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11612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73152" cy="9144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4ABE"/>
                </a:solidFill>
              </a:rPr>
              <a:t>☁  Storage Pool: backupEssentials — 1,922 GB used of 5,672 GB (33.9%)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20240"/>
            <a:ext cx="10972800" cy="20116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920240"/>
            <a:ext cx="3721608" cy="20116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93852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33.9%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317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331720"/>
            <a:ext cx="283464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39572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 BCDR Devices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063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Physical BCDR appliances (SIRIS/ALTO)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5387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Online/Offline status per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0142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Model, serial number, IP address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4897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Export device list to CSV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55263" y="23317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55263" y="2331720"/>
            <a:ext cx="2834640" cy="59436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1" y="239572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☁  DTC Assets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2423" y="3063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Direct-to-Cloud (Backup Essentials)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2423" y="35387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4 devices actively backing 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2423" y="40142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API diagnostic tool shows endpoint 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2423" y="44897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Auto-retry on Datto API 500 errors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7" y="23317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7" y="2331720"/>
            <a:ext cx="2834640" cy="59436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239572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Storage Usage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3063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Pool name, total / used / available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35387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Usage % progress bar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40142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Colour-coded: green &lt;60%, warning &gt;80%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44897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Export storage report to CSV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17151" y="23317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4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17151" y="2331720"/>
            <a:ext cx="2834640" cy="59436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79" y="239572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 API Diagnostics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1" y="3063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One-click "API Status" button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1" y="35387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Tests all 4 endpoints 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4311" y="40142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Shows HTTP status + response 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4311" y="44897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3A4A"/>
                </a:solidFill>
              </a:rPr>
              <a:t>• Identifies Datto server-side issues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27432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27432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27432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0"/>
            <a:ext cx="27432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0"/>
            <a:ext cx="27432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27432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0"/>
            <a:ext cx="27432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0" y="0"/>
            <a:ext cx="274320" cy="6858000"/>
          </a:xfrm>
          <a:prstGeom prst="rect">
            <a:avLst/>
          </a:prstGeom>
          <a:solidFill>
            <a:srgbClr val="2A5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804672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4E7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280160"/>
            <a:ext cx="109728" cy="475488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4630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224ABE"/>
                </a:solidFill>
              </a:rPr>
              <a:t>Thank You!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E73DF"/>
                </a:solidFill>
              </a:rPr>
              <a:t>FluidTrust IT Management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432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F"/>
                </a:solidFill>
              </a:rPr>
              <a:t>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175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✅  490+ devices monitored across 7 companies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747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✅  6,779 tickets synced from ManageEngine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✅  Package-based multi-module access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✅  Rate-limit resilient sync with status preservation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✅  Professional reports per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949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4ABE"/>
                </a:solidFill>
              </a:rPr>
              <a:t>❓  Questions &amp; Live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Powered by Django 4.2  |  Bootstrap 5  |  ManageEngine  |  Pulseway  |  MDM  |  Datto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